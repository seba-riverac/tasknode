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1" roundtripDataSignature="AMtx7mgf7qbeilRRR0vrdx/YudjBTpK2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A0FB593-16AB-4C30-8EC6-2ED420C578ED}">
  <a:tblStyle styleId="{EA0FB593-16AB-4C30-8EC6-2ED420C578E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customschemas.google.com/relationships/presentationmetadata" Target="meta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9" name="Google Shape;23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4" name="Google Shape;26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0241280" y="3291840"/>
            <a:ext cx="3657600" cy="3657600"/>
          </a:xfrm>
          <a:prstGeom prst="ellipse">
            <a:avLst/>
          </a:prstGeom>
          <a:solidFill>
            <a:srgbClr val="1C7293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 txBox="1"/>
          <p:nvPr/>
        </p:nvSpPr>
        <p:spPr>
          <a:xfrm>
            <a:off x="822960" y="214884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PROYECTO DE TÍTULO · INGENIERÍA EN INFORMÁTICA · 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 txBox="1"/>
          <p:nvPr/>
        </p:nvSpPr>
        <p:spPr>
          <a:xfrm>
            <a:off x="777240" y="2468880"/>
            <a:ext cx="91440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mbria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TaskNode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 txBox="1"/>
          <p:nvPr/>
        </p:nvSpPr>
        <p:spPr>
          <a:xfrm>
            <a:off x="822960" y="3611880"/>
            <a:ext cx="8778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Sistema de gestión operativa en terreno para industria pesquera, naviera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y de contratistas del sur de Chile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" name="Google Shape;22;p1"/>
          <p:cNvCxnSpPr/>
          <p:nvPr/>
        </p:nvCxnSpPr>
        <p:spPr>
          <a:xfrm>
            <a:off x="822960" y="470916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3" name="Google Shape;23;p1"/>
          <p:cNvSpPr txBox="1"/>
          <p:nvPr/>
        </p:nvSpPr>
        <p:spPr>
          <a:xfrm>
            <a:off x="822960" y="489204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Digitalizar y centralizar el registro de actividades en terreno para eliminar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pérdida de trazabilidad, descoordinación y retraso en la toma de decisiones.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CONTEXTO DE NEGOCIO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El problema en terreno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/>
        </p:nvSpPr>
        <p:spPr>
          <a:xfrm>
            <a:off x="548640" y="1600200"/>
            <a:ext cx="603504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Empresas industriales del sur de Chile </a:t>
            </a:r>
            <a:r>
              <a:rPr b="1" i="0" lang="en-US" sz="1600" u="none" cap="none" strike="noStrike">
                <a:solidFill>
                  <a:srgbClr val="065A82"/>
                </a:solidFill>
                <a:latin typeface="Calibri"/>
                <a:ea typeface="Calibri"/>
                <a:cs typeface="Calibri"/>
                <a:sym typeface="Calibri"/>
              </a:rPr>
              <a:t>(salmoneras, navieras, contratistas)</a:t>
            </a:r>
            <a:r>
              <a:rPr b="0" i="0" lang="en-US" sz="1600" u="none" cap="none" strike="noStrike">
                <a:solidFill>
                  <a:srgbClr val="1A1A1A"/>
                </a:solidFill>
                <a:latin typeface="Calibri"/>
                <a:ea typeface="Calibri"/>
                <a:cs typeface="Calibri"/>
                <a:sym typeface="Calibri"/>
              </a:rPr>
              <a:t> coordinan operarios en terreno con planillas, llamadas y mensajería informal.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548640" y="3063240"/>
            <a:ext cx="603504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 txBox="1"/>
          <p:nvPr/>
        </p:nvSpPr>
        <p:spPr>
          <a:xfrm>
            <a:off x="777240" y="3154680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Pérdida de trazabilidad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 txBox="1"/>
          <p:nvPr/>
        </p:nvSpPr>
        <p:spPr>
          <a:xfrm>
            <a:off x="777240" y="3474720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No hay registro confiable de dónde y cuándo se ejecutó cada tarea.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548640" y="4142232"/>
            <a:ext cx="603504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 txBox="1"/>
          <p:nvPr/>
        </p:nvSpPr>
        <p:spPr>
          <a:xfrm>
            <a:off x="777240" y="4233672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Descoordinación y retrasos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 txBox="1"/>
          <p:nvPr/>
        </p:nvSpPr>
        <p:spPr>
          <a:xfrm>
            <a:off x="777240" y="4553712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La información llega tarde a quien debe tomar decisiones.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548640" y="5221224"/>
            <a:ext cx="6035040" cy="914400"/>
          </a:xfrm>
          <a:prstGeom prst="roundRect">
            <a:avLst>
              <a:gd fmla="val 800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2"/>
          <p:cNvSpPr txBox="1"/>
          <p:nvPr/>
        </p:nvSpPr>
        <p:spPr>
          <a:xfrm>
            <a:off x="777240" y="5312664"/>
            <a:ext cx="55778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Datos dispersos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 txBox="1"/>
          <p:nvPr/>
        </p:nvSpPr>
        <p:spPr>
          <a:xfrm>
            <a:off x="777240" y="5632704"/>
            <a:ext cx="55778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Sin datos centralizados no hay análisis de negocio posible.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6903720" y="1600200"/>
            <a:ext cx="4754880" cy="4434840"/>
          </a:xfrm>
          <a:prstGeom prst="roundRect">
            <a:avLst>
              <a:gd fmla="val 206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 txBox="1"/>
          <p:nvPr/>
        </p:nvSpPr>
        <p:spPr>
          <a:xfrm>
            <a:off x="7223760" y="1874520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TASKNODE RESUELVE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 txBox="1"/>
          <p:nvPr/>
        </p:nvSpPr>
        <p:spPr>
          <a:xfrm>
            <a:off x="7223760" y="2240280"/>
            <a:ext cx="41605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Digitaliza, centraliza y ordena el flujo de información de operarios en terreno, dejando cada cambio de estado auditado con usuario, fecha y ubicación.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6" name="Google Shape;46;p2"/>
          <p:cNvCxnSpPr/>
          <p:nvPr/>
        </p:nvCxnSpPr>
        <p:spPr>
          <a:xfrm>
            <a:off x="7223760" y="3794760"/>
            <a:ext cx="4114800" cy="0"/>
          </a:xfrm>
          <a:prstGeom prst="straightConnector1">
            <a:avLst/>
          </a:prstGeom>
          <a:noFill/>
          <a:ln cap="flat" cmpd="sng" w="127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" name="Google Shape;47;p2"/>
          <p:cNvSpPr txBox="1"/>
          <p:nvPr/>
        </p:nvSpPr>
        <p:spPr>
          <a:xfrm>
            <a:off x="7223760" y="4023360"/>
            <a:ext cx="416052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Enfoque 100% aplicado al mundo real: sin integraciones a ERP legacy ni IA especulativa. El foco es la continuidad operativa.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PERFIL PROFESIONAL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Relación con el perfil de egreso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548640" y="169164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3"/>
          <p:cNvSpPr/>
          <p:nvPr/>
        </p:nvSpPr>
        <p:spPr>
          <a:xfrm>
            <a:off x="777240" y="1920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 txBox="1"/>
          <p:nvPr/>
        </p:nvSpPr>
        <p:spPr>
          <a:xfrm>
            <a:off x="77724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 txBox="1"/>
          <p:nvPr/>
        </p:nvSpPr>
        <p:spPr>
          <a:xfrm>
            <a:off x="1417320" y="18928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Arquitectura de software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 txBox="1"/>
          <p:nvPr/>
        </p:nvSpPr>
        <p:spPr>
          <a:xfrm>
            <a:off x="777240" y="24688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Diseño de una base de datos relacional normalizada y una API RESTful segura, aplicando principios de arquitectura multi-tenant.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6172200" y="169164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6400800" y="192024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6400800" y="192024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 txBox="1"/>
          <p:nvPr/>
        </p:nvSpPr>
        <p:spPr>
          <a:xfrm>
            <a:off x="7040880" y="189280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Desarrollo full-stack aplicado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 txBox="1"/>
          <p:nvPr/>
        </p:nvSpPr>
        <p:spPr>
          <a:xfrm>
            <a:off x="6400800" y="246888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Backend asíncrono en FastAPI y frontend PWA mobile-first, con foco en usabilidad real para trabajadores de terreno.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48640" y="37947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777240" y="4023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 txBox="1"/>
          <p:nvPr/>
        </p:nvSpPr>
        <p:spPr>
          <a:xfrm>
            <a:off x="77724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 txBox="1"/>
          <p:nvPr/>
        </p:nvSpPr>
        <p:spPr>
          <a:xfrm>
            <a:off x="1417320" y="39959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Gestión de proyectos TI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 txBox="1"/>
          <p:nvPr/>
        </p:nvSpPr>
        <p:spPr>
          <a:xfrm>
            <a:off x="777240" y="45720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Planificación y ejecución bajo metodología ágil (Scrum), con trazabilidad de evidencias y responsabilidades (RACI).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6172200" y="3794760"/>
            <a:ext cx="5349240" cy="1874520"/>
          </a:xfrm>
          <a:prstGeom prst="roundRect">
            <a:avLst>
              <a:gd fmla="val 4878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6400800" y="4023360"/>
            <a:ext cx="457200" cy="457200"/>
          </a:xfrm>
          <a:prstGeom prst="ellipse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 txBox="1"/>
          <p:nvPr/>
        </p:nvSpPr>
        <p:spPr>
          <a:xfrm>
            <a:off x="6400800" y="4023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 txBox="1"/>
          <p:nvPr/>
        </p:nvSpPr>
        <p:spPr>
          <a:xfrm>
            <a:off x="7040880" y="3995928"/>
            <a:ext cx="4297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Ingeniería aplicada a la industria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 txBox="1"/>
          <p:nvPr/>
        </p:nvSpPr>
        <p:spPr>
          <a:xfrm>
            <a:off x="6400800" y="4572000"/>
            <a:ext cx="493776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Solución pensada para un dolor real de la industria del sur de Chile (pesca, naviera, contratistas), no un ejercicio académico aislado.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4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Objetivo general y específicos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48640" y="1645920"/>
            <a:ext cx="11109960" cy="914400"/>
          </a:xfrm>
          <a:prstGeom prst="roundRect">
            <a:avLst>
              <a:gd fmla="val 8000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 txBox="1"/>
          <p:nvPr/>
        </p:nvSpPr>
        <p:spPr>
          <a:xfrm>
            <a:off x="822960" y="1755648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OBJETIVO GENERAL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 txBox="1"/>
          <p:nvPr/>
        </p:nvSpPr>
        <p:spPr>
          <a:xfrm>
            <a:off x="822960" y="1993392"/>
            <a:ext cx="10515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50"/>
              <a:buFont typeface="Calibri"/>
              <a:buNone/>
            </a:pPr>
            <a:r>
              <a:rPr b="0" i="0" lang="en-US" sz="14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Desarrollar un MVP de software SaaS para gestión operativa que permita digitalizar y centralizar el registro de actividades en terreno para empresas industriales.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48640" y="288036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 txBox="1"/>
          <p:nvPr/>
        </p:nvSpPr>
        <p:spPr>
          <a:xfrm>
            <a:off x="73152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1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73152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 txBox="1"/>
          <p:nvPr/>
        </p:nvSpPr>
        <p:spPr>
          <a:xfrm>
            <a:off x="73152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arquitectura relacional PostgreSQL optimizada.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3474720" y="288036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 txBox="1"/>
          <p:nvPr/>
        </p:nvSpPr>
        <p:spPr>
          <a:xfrm>
            <a:off x="365760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 txBox="1"/>
          <p:nvPr/>
        </p:nvSpPr>
        <p:spPr>
          <a:xfrm>
            <a:off x="365760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Construir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 txBox="1"/>
          <p:nvPr/>
        </p:nvSpPr>
        <p:spPr>
          <a:xfrm>
            <a:off x="365760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API RESTful segura en FastAPI.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400800" y="288036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658368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 txBox="1"/>
          <p:nvPr/>
        </p:nvSpPr>
        <p:spPr>
          <a:xfrm>
            <a:off x="658368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Prototipar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 txBox="1"/>
          <p:nvPr/>
        </p:nvSpPr>
        <p:spPr>
          <a:xfrm>
            <a:off x="658368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una UI/UX Mobile-First minimizando la curva de aprendizaje.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9326880" y="2880360"/>
            <a:ext cx="2697480" cy="3108960"/>
          </a:xfrm>
          <a:prstGeom prst="roundRect">
            <a:avLst>
              <a:gd fmla="val 3390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 txBox="1"/>
          <p:nvPr/>
        </p:nvSpPr>
        <p:spPr>
          <a:xfrm>
            <a:off x="9509760" y="306324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2600"/>
              <a:buFont typeface="Cambria"/>
              <a:buNone/>
            </a:pPr>
            <a:r>
              <a:rPr b="1" i="0" lang="en-US" sz="2600" u="none" cap="none" strike="noStrike">
                <a:solidFill>
                  <a:srgbClr val="1C7293"/>
                </a:solidFill>
                <a:latin typeface="Cambria"/>
                <a:ea typeface="Cambria"/>
                <a:cs typeface="Cambria"/>
                <a:sym typeface="Cambria"/>
              </a:rPr>
              <a:t>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 txBox="1"/>
          <p:nvPr/>
        </p:nvSpPr>
        <p:spPr>
          <a:xfrm>
            <a:off x="9509760" y="3794760"/>
            <a:ext cx="23317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Gestionar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 txBox="1"/>
          <p:nvPr/>
        </p:nvSpPr>
        <p:spPr>
          <a:xfrm>
            <a:off x="9509760" y="4160520"/>
            <a:ext cx="233172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50"/>
              <a:buFont typeface="Calibri"/>
              <a:buNone/>
            </a:pPr>
            <a:r>
              <a:rPr b="0" i="0" lang="en-US" sz="12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el desarrollo íntegramente bajo metodología Scrum.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FACTIBILIDAD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Alcance del MVP en un semestre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 txBox="1"/>
          <p:nvPr/>
        </p:nvSpPr>
        <p:spPr>
          <a:xfrm>
            <a:off x="548640" y="1600200"/>
            <a:ext cx="110642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El alcance se acotó deliberadamente a lo ejecutable en 17 semanas por un equipo reducido, dejando fuera integraciones que no aportan al problema central.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548640" y="2286000"/>
            <a:ext cx="5486400" cy="3840480"/>
          </a:xfrm>
          <a:prstGeom prst="roundRect">
            <a:avLst>
              <a:gd fmla="val 2381" name="adj"/>
            </a:avLst>
          </a:prstGeom>
          <a:solidFill>
            <a:srgbClr val="E3F2E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 txBox="1"/>
          <p:nvPr/>
        </p:nvSpPr>
        <p:spPr>
          <a:xfrm>
            <a:off x="82296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7D5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2E7D5B"/>
                </a:solidFill>
                <a:latin typeface="Calibri"/>
                <a:ea typeface="Calibri"/>
                <a:cs typeface="Calibri"/>
                <a:sym typeface="Calibri"/>
              </a:rPr>
              <a:t>DENTRO DEL ALCANCE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 txBox="1"/>
          <p:nvPr/>
        </p:nvSpPr>
        <p:spPr>
          <a:xfrm>
            <a:off x="822960" y="28346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Autenticación y roles (Supervisor / Operario)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Asignación y seguimiento de tareas en tiempo real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Captura de evidencia fotográfica y GPS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Dashboard operativo centralizado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1F4A36"/>
              </a:buClr>
              <a:buSzPts val="1350"/>
              <a:buFont typeface="Calibri"/>
              <a:buChar char="✓"/>
            </a:pPr>
            <a:r>
              <a:rPr b="0" i="0" lang="en-US" sz="1350" u="none" cap="none" strike="noStrike">
                <a:solidFill>
                  <a:srgbClr val="1F4A36"/>
                </a:solidFill>
                <a:latin typeface="Calibri"/>
                <a:ea typeface="Calibri"/>
                <a:cs typeface="Calibri"/>
                <a:sym typeface="Calibri"/>
              </a:rPr>
              <a:t>PWA offline-first con sincronización posterior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6217920" y="2286000"/>
            <a:ext cx="5440680" cy="3840480"/>
          </a:xfrm>
          <a:prstGeom prst="roundRect">
            <a:avLst>
              <a:gd fmla="val 2381" name="adj"/>
            </a:avLst>
          </a:prstGeom>
          <a:solidFill>
            <a:srgbClr val="F3F3F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5"/>
          <p:cNvSpPr txBox="1"/>
          <p:nvPr/>
        </p:nvSpPr>
        <p:spPr>
          <a:xfrm>
            <a:off x="6492240" y="246888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FUERA DE ALCANCE (MVP)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 txBox="1"/>
          <p:nvPr/>
        </p:nvSpPr>
        <p:spPr>
          <a:xfrm>
            <a:off x="6492240" y="2834640"/>
            <a:ext cx="4937760" cy="3108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Integraciones con ERPs legacy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Inteligencia artificial especulativa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Módulos de facturación o nómina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spcBef>
                <a:spcPts val="1000"/>
              </a:spcBef>
              <a:spcAft>
                <a:spcPts val="0"/>
              </a:spcAft>
              <a:buClr>
                <a:srgbClr val="5A5A5A"/>
              </a:buClr>
              <a:buSzPts val="1350"/>
              <a:buFont typeface="Calibri"/>
              <a:buChar char="✗"/>
            </a:pPr>
            <a:r>
              <a:rPr b="0" i="0" lang="en-US" sz="1350" u="none" cap="none" strike="noStrike">
                <a:solidFill>
                  <a:srgbClr val="5A5A5A"/>
                </a:solidFill>
                <a:latin typeface="Calibri"/>
                <a:ea typeface="Calibri"/>
                <a:cs typeface="Calibri"/>
                <a:sym typeface="Calibri"/>
              </a:rPr>
              <a:t>Aplicación nativa (se prioriza PWA)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5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Requisitos funcionales (RF)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30" name="Google Shape;130;p6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{EA0FB593-16AB-4C30-8EC6-2ED420C578ED}</a:tableStyleId>
              </a:tblPr>
              <a:tblGrid>
                <a:gridCol w="1005850"/>
                <a:gridCol w="2194550"/>
                <a:gridCol w="6080750"/>
                <a:gridCol w="18288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Prioridad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Autenticación y roles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Login diferenciando Supervisor (web) y Operario (móvil).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Asignación de tareas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supervisor crea, asigna y ubica una orden de trabajo.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Gestión de estados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El operario actualiza el estado de su tarea en tiempo real.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Registro de evidencia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Nota/comentario de finalización al cerrar una tarea.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4F0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854F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Dashboard operativo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Vista centralizada del estado de todas las tareas del día.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fotográfica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Adjuntar fotos desde la cámara al cambiar de estado.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A32D2D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A32D2D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Alta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RF-07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Geolocalización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Captura de coordenadas GPS al cambiar de estado.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54F0B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854F0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Media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1" name="Google Shape;131;p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7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REQUISITOS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7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Requisitos no funcionales (RNF)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0" name="Google Shape;140;p7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{EA0FB593-16AB-4C30-8EC6-2ED420C578ED}</a:tableStyleId>
              </a:tblPr>
              <a:tblGrid>
                <a:gridCol w="1188725"/>
                <a:gridCol w="2834650"/>
                <a:gridCol w="7086600"/>
              </a:tblGrid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Requisito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Descripción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C7293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RNF-01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Arquitectura y stack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Backend en Python/FastAPI con rendimiento asíncrono.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RNF-02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Integridad relacional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PostgreSQL con cumplimiento estricto de propiedades ACID.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RNF-03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Usabilidad en terreno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Interfaz Mobile-First, accesible en pantallas táctiles.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RNF-04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Rendimiento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Latencia de API inferior a 2 segundos.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RNF-05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Tolerancia offline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PWA con almacenamiento local y sincronización automática.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RNF-06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Seguridad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Comunicación protegida vía tokens JWT.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C7293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1C7293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RNF-07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Almacenamiento multimedia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fotográfica en almacenamiento de objetos (S3/Blob), solo la URL en PostgreSQL.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1" name="Google Shape;141;p7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Esquema relacional preliminar (3FN)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er_diagram.png" id="150" name="Google Shape;150;p8"/>
          <p:cNvPicPr preferRelativeResize="0"/>
          <p:nvPr/>
        </p:nvPicPr>
        <p:blipFill rotWithShape="1">
          <a:blip r:embed="rId3">
            <a:alphaModFix/>
          </a:blip>
          <a:srcRect b="-391" l="0" r="0" t="-391"/>
          <a:stretch/>
        </p:blipFill>
        <p:spPr>
          <a:xfrm>
            <a:off x="548640" y="1645920"/>
            <a:ext cx="11109960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METODOLOGÍA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9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Scrum adaptado a equipo reducido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9"/>
          <p:cNvSpPr txBox="1"/>
          <p:nvPr/>
        </p:nvSpPr>
        <p:spPr>
          <a:xfrm>
            <a:off x="548640" y="1600200"/>
            <a:ext cx="110642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350"/>
              <a:buFont typeface="Calibri"/>
              <a:buNone/>
            </a:pPr>
            <a:r>
              <a:rPr b="0" i="0" lang="en-US" sz="13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Cuatro semanas de formulación seguidas de seis sprints de dos semanas, cada uno con un incremento funcional verificable por el profesor-guía.</a:t>
            </a:r>
            <a:endParaRPr b="0" i="0" sz="1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9"/>
          <p:cNvSpPr/>
          <p:nvPr/>
        </p:nvSpPr>
        <p:spPr>
          <a:xfrm>
            <a:off x="548640" y="2194560"/>
            <a:ext cx="2112264" cy="77724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 txBox="1"/>
          <p:nvPr/>
        </p:nvSpPr>
        <p:spPr>
          <a:xfrm>
            <a:off x="548640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1-4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2798064" y="2194560"/>
            <a:ext cx="2112264" cy="77724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9"/>
          <p:cNvSpPr txBox="1"/>
          <p:nvPr/>
        </p:nvSpPr>
        <p:spPr>
          <a:xfrm>
            <a:off x="2798064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1-2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5-8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047488" y="2194560"/>
            <a:ext cx="2112264" cy="77724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 txBox="1"/>
          <p:nvPr/>
        </p:nvSpPr>
        <p:spPr>
          <a:xfrm>
            <a:off x="5047488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3-4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9-12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296912" y="2194560"/>
            <a:ext cx="2112264" cy="777240"/>
          </a:xfrm>
          <a:prstGeom prst="roundRect">
            <a:avLst>
              <a:gd fmla="val 9412" name="adj"/>
            </a:avLst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9"/>
          <p:cNvSpPr txBox="1"/>
          <p:nvPr/>
        </p:nvSpPr>
        <p:spPr>
          <a:xfrm>
            <a:off x="7296912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Sprint 5-6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13-16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9546336" y="2194560"/>
            <a:ext cx="2112264" cy="777240"/>
          </a:xfrm>
          <a:prstGeom prst="roundRect">
            <a:avLst>
              <a:gd fmla="val 9412" name="adj"/>
            </a:avLst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9"/>
          <p:cNvSpPr txBox="1"/>
          <p:nvPr/>
        </p:nvSpPr>
        <p:spPr>
          <a:xfrm>
            <a:off x="9546336" y="2194560"/>
            <a:ext cx="2112264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Cierre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Sem 17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 txBox="1"/>
          <p:nvPr/>
        </p:nvSpPr>
        <p:spPr>
          <a:xfrm>
            <a:off x="548640" y="324612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HERRAMIENTAS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48640" y="3611880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9"/>
          <p:cNvSpPr txBox="1"/>
          <p:nvPr/>
        </p:nvSpPr>
        <p:spPr>
          <a:xfrm>
            <a:off x="68580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Gestión ágil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9"/>
          <p:cNvSpPr txBox="1"/>
          <p:nvPr/>
        </p:nvSpPr>
        <p:spPr>
          <a:xfrm>
            <a:off x="68580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GitHub Projects (Kanban)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4312920" y="3611880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9"/>
          <p:cNvSpPr txBox="1"/>
          <p:nvPr/>
        </p:nvSpPr>
        <p:spPr>
          <a:xfrm>
            <a:off x="445008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Versionamiento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9"/>
          <p:cNvSpPr txBox="1"/>
          <p:nvPr/>
        </p:nvSpPr>
        <p:spPr>
          <a:xfrm>
            <a:off x="445008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 + GitHub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8077200" y="3611880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9"/>
          <p:cNvSpPr txBox="1"/>
          <p:nvPr/>
        </p:nvSpPr>
        <p:spPr>
          <a:xfrm>
            <a:off x="8214360" y="3685032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CI/CD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9"/>
          <p:cNvSpPr txBox="1"/>
          <p:nvPr/>
        </p:nvSpPr>
        <p:spPr>
          <a:xfrm>
            <a:off x="8214360" y="3941064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GitHub Actions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48640" y="4462272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9"/>
          <p:cNvSpPr txBox="1"/>
          <p:nvPr/>
        </p:nvSpPr>
        <p:spPr>
          <a:xfrm>
            <a:off x="68580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Diseño UI/UX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 txBox="1"/>
          <p:nvPr/>
        </p:nvSpPr>
        <p:spPr>
          <a:xfrm>
            <a:off x="68580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Figma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4312920" y="4462272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 txBox="1"/>
          <p:nvPr/>
        </p:nvSpPr>
        <p:spPr>
          <a:xfrm>
            <a:off x="445008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 txBox="1"/>
          <p:nvPr/>
        </p:nvSpPr>
        <p:spPr>
          <a:xfrm>
            <a:off x="445008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FastAPI + Pydantic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077200" y="4462272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9"/>
          <p:cNvSpPr txBox="1"/>
          <p:nvPr/>
        </p:nvSpPr>
        <p:spPr>
          <a:xfrm>
            <a:off x="8214360" y="4535424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Base de datos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 txBox="1"/>
          <p:nvPr/>
        </p:nvSpPr>
        <p:spPr>
          <a:xfrm>
            <a:off x="8214360" y="4791456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PostgreSQL + SQLAlchemy + Alembic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548640" y="5312664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9"/>
          <p:cNvSpPr txBox="1"/>
          <p:nvPr/>
        </p:nvSpPr>
        <p:spPr>
          <a:xfrm>
            <a:off x="68580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 txBox="1"/>
          <p:nvPr/>
        </p:nvSpPr>
        <p:spPr>
          <a:xfrm>
            <a:off x="68580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PWA · Service Workers · IndexedDB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4312920" y="5312664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9"/>
          <p:cNvSpPr txBox="1"/>
          <p:nvPr/>
        </p:nvSpPr>
        <p:spPr>
          <a:xfrm>
            <a:off x="445008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 txBox="1"/>
          <p:nvPr/>
        </p:nvSpPr>
        <p:spPr>
          <a:xfrm>
            <a:off x="445008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Pytest + Postman/Insomnia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8077200" y="5312664"/>
            <a:ext cx="3581400" cy="713232"/>
          </a:xfrm>
          <a:prstGeom prst="roundRect">
            <a:avLst>
              <a:gd fmla="val 769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"/>
          <p:cNvSpPr txBox="1"/>
          <p:nvPr/>
        </p:nvSpPr>
        <p:spPr>
          <a:xfrm>
            <a:off x="8214360" y="5385816"/>
            <a:ext cx="33070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Despliegue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 txBox="1"/>
          <p:nvPr/>
        </p:nvSpPr>
        <p:spPr>
          <a:xfrm>
            <a:off x="8214360" y="5641848"/>
            <a:ext cx="33070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50"/>
              <a:buFont typeface="Calibri"/>
              <a:buNone/>
            </a:pPr>
            <a:r>
              <a:rPr b="0" i="0" lang="en-US" sz="11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Docker + PaaS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PLAN DE TRABAJO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Cronograma — el desarrollo inicia en la semana 5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548640" y="2286000"/>
            <a:ext cx="2577532" cy="10058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10"/>
          <p:cNvSpPr txBox="1"/>
          <p:nvPr/>
        </p:nvSpPr>
        <p:spPr>
          <a:xfrm>
            <a:off x="548640" y="2286000"/>
            <a:ext cx="25775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Formulación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3162748" y="2286000"/>
            <a:ext cx="1924005" cy="10058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0"/>
          <p:cNvSpPr txBox="1"/>
          <p:nvPr/>
        </p:nvSpPr>
        <p:spPr>
          <a:xfrm>
            <a:off x="3162748" y="2286000"/>
            <a:ext cx="1924005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Fundaciones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5123329" y="2286000"/>
            <a:ext cx="2577532" cy="10058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0"/>
          <p:cNvSpPr txBox="1"/>
          <p:nvPr/>
        </p:nvSpPr>
        <p:spPr>
          <a:xfrm>
            <a:off x="5123329" y="2286000"/>
            <a:ext cx="2577532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Desarrollo Core PWA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7737438" y="2286000"/>
            <a:ext cx="3884586" cy="100584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"/>
          <p:cNvSpPr txBox="1"/>
          <p:nvPr/>
        </p:nvSpPr>
        <p:spPr>
          <a:xfrm>
            <a:off x="7737438" y="2286000"/>
            <a:ext cx="3884586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Fase 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Seguridad, QA y despliegue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 txBox="1"/>
          <p:nvPr/>
        </p:nvSpPr>
        <p:spPr>
          <a:xfrm>
            <a:off x="54864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Semana 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 txBox="1"/>
          <p:nvPr/>
        </p:nvSpPr>
        <p:spPr>
          <a:xfrm>
            <a:off x="10287000" y="3364992"/>
            <a:ext cx="1371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Semana 17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8" name="Google Shape;218;p10"/>
          <p:cNvCxnSpPr/>
          <p:nvPr/>
        </p:nvCxnSpPr>
        <p:spPr>
          <a:xfrm>
            <a:off x="3162748" y="2148840"/>
            <a:ext cx="0" cy="1280160"/>
          </a:xfrm>
          <a:prstGeom prst="straightConnector1">
            <a:avLst/>
          </a:prstGeom>
          <a:noFill/>
          <a:ln cap="flat" cmpd="sng" w="25400">
            <a:solidFill>
              <a:srgbClr val="C00000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9" name="Google Shape;219;p10"/>
          <p:cNvSpPr txBox="1"/>
          <p:nvPr/>
        </p:nvSpPr>
        <p:spPr>
          <a:xfrm>
            <a:off x="2339788" y="1600200"/>
            <a:ext cx="164592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Inicio del desarrollo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(Semana 5)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 txBox="1"/>
          <p:nvPr/>
        </p:nvSpPr>
        <p:spPr>
          <a:xfrm>
            <a:off x="548640" y="37947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0 (Sem 1-4)  </a:t>
            </a:r>
            <a:r>
              <a:rPr b="0" i="0" lang="en-US" sz="13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Requisitos, metodología, RACI, mockups y defensa de la propuesta.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 txBox="1"/>
          <p:nvPr/>
        </p:nvSpPr>
        <p:spPr>
          <a:xfrm>
            <a:off x="548640" y="42519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1 (Sem 5-7)  </a:t>
            </a:r>
            <a:r>
              <a:rPr b="0" i="0" lang="en-US" sz="13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Entorno, CI/CD, modelo E-R, setup PostgreSQL/ORM, maquetación UI.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 txBox="1"/>
          <p:nvPr/>
        </p:nvSpPr>
        <p:spPr>
          <a:xfrm>
            <a:off x="548640" y="47091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2 (Sem 8-11)  </a:t>
            </a:r>
            <a:r>
              <a:rPr b="0" i="0" lang="en-US" sz="13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API REST, frontend PWA, Service Workers, GPS y captura fotográfica.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 txBox="1"/>
          <p:nvPr/>
        </p:nvSpPr>
        <p:spPr>
          <a:xfrm>
            <a:off x="548640" y="5166360"/>
            <a:ext cx="111099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21295C"/>
                </a:solidFill>
                <a:latin typeface="Calibri"/>
                <a:ea typeface="Calibri"/>
                <a:cs typeface="Calibri"/>
                <a:sym typeface="Calibri"/>
              </a:rPr>
              <a:t>Fase 3 (Sem 12-17)  </a:t>
            </a:r>
            <a:r>
              <a:rPr b="0" i="0" lang="en-US" sz="13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JWT, RLS, dashboard web, almacenamiento de evidencia, QA y despliegue.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0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1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GOBERNANZA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Matriz RACI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33" name="Google Shape;233;p11"/>
          <p:cNvGraphicFramePr/>
          <p:nvPr/>
        </p:nvGraphicFramePr>
        <p:xfrm>
          <a:off x="548640" y="16916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{EA0FB593-16AB-4C30-8EC6-2ED420C578ED}</a:tableStyleId>
              </a:tblPr>
              <a:tblGrid>
                <a:gridCol w="5074925"/>
                <a:gridCol w="2011675"/>
                <a:gridCol w="2011675"/>
                <a:gridCol w="2011675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Hito / Entregable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Líder Técnico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Dev. Frontend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Supervisor (Profesor)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1295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Definición de metodología y plan de trabajo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Modelamiento de base de datos (PostgreSQL)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/ 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Mockups y diseño de interfaces (Figma)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 / 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Desarrollo backend y API (FastAPI)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Programación frontend y geolocalización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850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850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Implementación offline-first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calidad (QA) y despliegue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444441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44444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50"/>
                        <a:buFont typeface="Calibri"/>
                        <a:buNone/>
                      </a:pPr>
                      <a:r>
                        <a:rPr lang="en-US" sz="1250" u="none" cap="none" strike="noStrik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Entrega final y documentación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C447C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0C447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33806"/>
                        </a:buClr>
                        <a:buSzPts val="1250"/>
                        <a:buFont typeface="Calibri"/>
                        <a:buNone/>
                      </a:pPr>
                      <a:r>
                        <a:rPr b="1" lang="en-US" sz="1250" u="none" cap="none" strike="noStrike">
                          <a:solidFill>
                            <a:srgbClr val="633806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</a:t>
                      </a:r>
                      <a:endParaRPr sz="125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34" name="Google Shape;234;p11"/>
          <p:cNvSpPr txBox="1"/>
          <p:nvPr/>
        </p:nvSpPr>
        <p:spPr>
          <a:xfrm>
            <a:off x="548640" y="608076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050"/>
              <a:buFont typeface="Calibri"/>
              <a:buNone/>
            </a:pPr>
            <a:r>
              <a:rPr b="0" i="1" lang="en-US" sz="105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R = Responsable   A = Aprueba   C = Consultado   I = Informado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2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VERIFICACIÓN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2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Determinación de evidencias y justificación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44" name="Google Shape;244;p12"/>
          <p:cNvGraphicFramePr/>
          <p:nvPr/>
        </p:nvGraphicFramePr>
        <p:xfrm>
          <a:off x="548640" y="16002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{EA0FB593-16AB-4C30-8EC6-2ED420C578ED}</a:tableStyleId>
              </a:tblPr>
              <a:tblGrid>
                <a:gridCol w="1828800"/>
                <a:gridCol w="928115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Etapa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Evidencia verificable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65A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0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Documento de requisitos, matriz RACI, archivo Figma, registro de la presentación.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1-2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Historial de commits, pipeline de CI/CD en verde, diagrama E-R, migraciones.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3-4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Colección de pruebas de endpoints, demo de la PWA funcionando offline.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Sprint 5-6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Pruebas de roles y RLS, capturas del dashboard, reporte de pruebas de carga.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65A82"/>
                        </a:buClr>
                        <a:buSzPts val="1200"/>
                        <a:buFont typeface="Calibri"/>
                        <a:buNone/>
                      </a:pPr>
                      <a:r>
                        <a:rPr b="1" lang="en-US" sz="1200" u="none" cap="none" strike="noStrike">
                          <a:solidFill>
                            <a:srgbClr val="065A82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Cierre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5A606C"/>
                        </a:buClr>
                        <a:buSzPts val="1200"/>
                        <a:buFont typeface="Calibri"/>
                        <a:buNone/>
                      </a:pPr>
                      <a:r>
                        <a:rPr lang="en-US" sz="1200" u="none" cap="none" strike="noStrike">
                          <a:solidFill>
                            <a:srgbClr val="5A606C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Sistema desplegado en URL pública, informe de título, video demo end-to-end.</a:t>
                      </a:r>
                      <a:endParaRPr sz="12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3E6EA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45" name="Google Shape;245;p12"/>
          <p:cNvSpPr/>
          <p:nvPr/>
        </p:nvSpPr>
        <p:spPr>
          <a:xfrm>
            <a:off x="548640" y="4709160"/>
            <a:ext cx="11109960" cy="1417320"/>
          </a:xfrm>
          <a:prstGeom prst="roundRect">
            <a:avLst>
              <a:gd fmla="val 6452" name="adj"/>
            </a:avLst>
          </a:prstGeom>
          <a:solidFill>
            <a:srgbClr val="F4F7F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 txBox="1"/>
          <p:nvPr/>
        </p:nvSpPr>
        <p:spPr>
          <a:xfrm>
            <a:off x="868680" y="4892040"/>
            <a:ext cx="10515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1500"/>
              <a:buFont typeface="Cambria"/>
              <a:buNone/>
            </a:pPr>
            <a:r>
              <a:rPr b="0" i="1" lang="en-US" sz="15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“No elegimos evidencias arbitrarias: cada una es un subproducto que el propio proceso genera. Así como TaskNode audita cada cambio de estado en terreno, nosotros auditamos cada sprint con evidencia verificable y fechada.”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DE INTERFAZ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3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Mockups — cliente móvil (Operario)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up_app_lista_tareas.png" id="256" name="Google Shape;256;p13"/>
          <p:cNvPicPr preferRelativeResize="0"/>
          <p:nvPr/>
        </p:nvPicPr>
        <p:blipFill rotWithShape="1">
          <a:blip r:embed="rId3">
            <a:alphaModFix/>
          </a:blip>
          <a:srcRect b="0" l="-18627" r="-18627" t="0"/>
          <a:stretch/>
        </p:blipFill>
        <p:spPr>
          <a:xfrm>
            <a:off x="1828800" y="1554480"/>
            <a:ext cx="3291840" cy="4663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mockup_app_detalle_tarea.png" id="257" name="Google Shape;257;p13"/>
          <p:cNvPicPr preferRelativeResize="0"/>
          <p:nvPr/>
        </p:nvPicPr>
        <p:blipFill rotWithShape="1">
          <a:blip r:embed="rId4">
            <a:alphaModFix/>
          </a:blip>
          <a:srcRect b="0" l="-18627" r="-18627" t="0"/>
          <a:stretch/>
        </p:blipFill>
        <p:spPr>
          <a:xfrm>
            <a:off x="6309360" y="1554480"/>
            <a:ext cx="3291840" cy="466344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13"/>
          <p:cNvSpPr txBox="1"/>
          <p:nvPr/>
        </p:nvSpPr>
        <p:spPr>
          <a:xfrm>
            <a:off x="1828800" y="6263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Lista de tareas del día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3"/>
          <p:cNvSpPr txBox="1"/>
          <p:nvPr/>
        </p:nvSpPr>
        <p:spPr>
          <a:xfrm>
            <a:off x="6309360" y="6263640"/>
            <a:ext cx="3291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Detalle: estado, evidencia y GPS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3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4"/>
          <p:cNvSpPr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C7293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C7293"/>
                </a:solidFill>
                <a:latin typeface="Calibri"/>
                <a:ea typeface="Calibri"/>
                <a:cs typeface="Calibri"/>
                <a:sym typeface="Calibri"/>
              </a:rPr>
              <a:t>DISEÑO DE INTERFAZ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4"/>
          <p:cNvSpPr txBox="1"/>
          <p:nvPr/>
        </p:nvSpPr>
        <p:spPr>
          <a:xfrm>
            <a:off x="548640" y="566928"/>
            <a:ext cx="11064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1295C"/>
              </a:buClr>
              <a:buSzPts val="3000"/>
              <a:buFont typeface="Cambria"/>
              <a:buNone/>
            </a:pPr>
            <a:r>
              <a:rPr b="1" i="0" lang="en-US" sz="3000" u="none" cap="none" strike="noStrike">
                <a:solidFill>
                  <a:srgbClr val="21295C"/>
                </a:solidFill>
                <a:latin typeface="Cambria"/>
                <a:ea typeface="Cambria"/>
                <a:cs typeface="Cambria"/>
                <a:sym typeface="Cambria"/>
              </a:rPr>
              <a:t>Mockup — dashboard web (Supervisor)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mockup_dashboard_supervisor.png" id="269" name="Google Shape;269;p14"/>
          <p:cNvPicPr preferRelativeResize="0"/>
          <p:nvPr/>
        </p:nvPicPr>
        <p:blipFill rotWithShape="1">
          <a:blip r:embed="rId3">
            <a:alphaModFix/>
          </a:blip>
          <a:srcRect b="0" l="-30785" r="-30785" t="0"/>
          <a:stretch/>
        </p:blipFill>
        <p:spPr>
          <a:xfrm>
            <a:off x="548640" y="1737360"/>
            <a:ext cx="1110996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TaskNode — Proyecto de Título · Ingeniería en Informática · Duoc UC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4"/>
          <p:cNvSpPr txBox="1"/>
          <p:nvPr/>
        </p:nvSpPr>
        <p:spPr>
          <a:xfrm>
            <a:off x="11430000" y="653796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5A606C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5A606C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1295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/>
          <p:nvPr/>
        </p:nvSpPr>
        <p:spPr>
          <a:xfrm>
            <a:off x="-1828800" y="3657600"/>
            <a:ext cx="5486400" cy="5486400"/>
          </a:xfrm>
          <a:prstGeom prst="ellipse">
            <a:avLst/>
          </a:prstGeom>
          <a:solidFill>
            <a:srgbClr val="065A82">
              <a:alpha val="45098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5"/>
          <p:cNvSpPr txBox="1"/>
          <p:nvPr/>
        </p:nvSpPr>
        <p:spPr>
          <a:xfrm>
            <a:off x="822960" y="2468880"/>
            <a:ext cx="73152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mbria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Gracias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 txBox="1"/>
          <p:nvPr/>
        </p:nvSpPr>
        <p:spPr>
          <a:xfrm>
            <a:off x="868680" y="342900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Preguntas y comentarios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0" name="Google Shape;280;p15"/>
          <p:cNvCxnSpPr/>
          <p:nvPr/>
        </p:nvCxnSpPr>
        <p:spPr>
          <a:xfrm>
            <a:off x="868680" y="4023360"/>
            <a:ext cx="2926080" cy="0"/>
          </a:xfrm>
          <a:prstGeom prst="straightConnector1">
            <a:avLst/>
          </a:prstGeom>
          <a:noFill/>
          <a:ln cap="flat" cmpd="sng" w="25400">
            <a:solidFill>
              <a:srgbClr val="1C729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1" name="Google Shape;281;p15"/>
          <p:cNvSpPr txBox="1"/>
          <p:nvPr/>
        </p:nvSpPr>
        <p:spPr>
          <a:xfrm>
            <a:off x="868680" y="42062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TaskNode — Sistema de gestión operativa en terreno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FB6D9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9FB6D9"/>
                </a:solidFill>
                <a:latin typeface="Calibri"/>
                <a:ea typeface="Calibri"/>
                <a:cs typeface="Calibri"/>
                <a:sym typeface="Calibri"/>
              </a:rPr>
              <a:t>Ingeniería en Informática · Duoc UC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2026-08-31T03:09:54Z</dcterms:created>
  <dc:creator>PptxGenJS</dc:creator>
</cp:coreProperties>
</file>