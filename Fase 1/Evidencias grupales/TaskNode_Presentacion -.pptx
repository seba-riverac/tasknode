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oWFDZW4Kzmd6coZfqcbzkngDb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48FF7F-95BE-428E-9AF2-F518470E8B83}" v="6" dt="2026-08-31T20:45:20.223"/>
  </p1510:revLst>
</p1510:revInfo>
</file>

<file path=ppt/tableStyles.xml><?xml version="1.0" encoding="utf-8"?>
<a:tblStyleLst xmlns:a="http://schemas.openxmlformats.org/drawingml/2006/main" def="{39612F84-F28E-4061-A224-8A1214BDF9A9}">
  <a:tblStyle styleId="{39612F84-F28E-4061-A224-8A1214BDF9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Rivera" userId="4ed3d0107b9a588e" providerId="LiveId" clId="{1014A97C-CE41-4297-AD16-74D25054BF1C}"/>
    <pc:docChg chg="undo custSel modSld">
      <pc:chgData name="Alexander Rivera" userId="4ed3d0107b9a588e" providerId="LiveId" clId="{1014A97C-CE41-4297-AD16-74D25054BF1C}" dt="2026-08-31T20:46:03.939" v="39" actId="14100"/>
      <pc:docMkLst>
        <pc:docMk/>
      </pc:docMkLst>
      <pc:sldChg chg="addSp delSp modSp mod">
        <pc:chgData name="Alexander Rivera" userId="4ed3d0107b9a588e" providerId="LiveId" clId="{1014A97C-CE41-4297-AD16-74D25054BF1C}" dt="2026-08-31T20:46:03.939" v="39" actId="14100"/>
        <pc:sldMkLst>
          <pc:docMk/>
          <pc:sldMk cId="0" sldId="263"/>
        </pc:sldMkLst>
        <pc:spChg chg="add del mod">
          <ac:chgData name="Alexander Rivera" userId="4ed3d0107b9a588e" providerId="LiveId" clId="{1014A97C-CE41-4297-AD16-74D25054BF1C}" dt="2026-08-31T20:44:59.698" v="13" actId="767"/>
          <ac:spMkLst>
            <pc:docMk/>
            <pc:sldMk cId="0" sldId="263"/>
            <ac:spMk id="4" creationId="{E964CFF8-D714-4AFA-656E-3537A7D17EB5}"/>
          </ac:spMkLst>
        </pc:spChg>
        <pc:spChg chg="add del mod">
          <ac:chgData name="Alexander Rivera" userId="4ed3d0107b9a588e" providerId="LiveId" clId="{1014A97C-CE41-4297-AD16-74D25054BF1C}" dt="2026-08-31T20:44:58.710" v="11" actId="767"/>
          <ac:spMkLst>
            <pc:docMk/>
            <pc:sldMk cId="0" sldId="263"/>
            <ac:spMk id="5" creationId="{057A0304-DF94-3C44-BB90-19A456B4F11B}"/>
          </ac:spMkLst>
        </pc:spChg>
        <pc:spChg chg="add del mod">
          <ac:chgData name="Alexander Rivera" userId="4ed3d0107b9a588e" providerId="LiveId" clId="{1014A97C-CE41-4297-AD16-74D25054BF1C}" dt="2026-08-31T20:45:20.223" v="21" actId="767"/>
          <ac:spMkLst>
            <pc:docMk/>
            <pc:sldMk cId="0" sldId="263"/>
            <ac:spMk id="6" creationId="{955CD74D-4AC2-34EA-5FAB-7CD2AFAE5EBF}"/>
          </ac:spMkLst>
        </pc:spChg>
        <pc:spChg chg="mod">
          <ac:chgData name="Alexander Rivera" userId="4ed3d0107b9a588e" providerId="LiveId" clId="{1014A97C-CE41-4297-AD16-74D25054BF1C}" dt="2026-08-31T20:45:37.567" v="27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Alexander Rivera" userId="4ed3d0107b9a588e" providerId="LiveId" clId="{1014A97C-CE41-4297-AD16-74D25054BF1C}" dt="2026-08-31T20:45:39.433" v="28" actId="1076"/>
          <ac:spMkLst>
            <pc:docMk/>
            <pc:sldMk cId="0" sldId="263"/>
            <ac:spMk id="150" creationId="{00000000-0000-0000-0000-000000000000}"/>
          </ac:spMkLst>
        </pc:spChg>
        <pc:picChg chg="add del mod">
          <ac:chgData name="Alexander Rivera" userId="4ed3d0107b9a588e" providerId="LiveId" clId="{1014A97C-CE41-4297-AD16-74D25054BF1C}" dt="2026-08-31T20:45:21.527" v="25" actId="931"/>
          <ac:picMkLst>
            <pc:docMk/>
            <pc:sldMk cId="0" sldId="263"/>
            <ac:picMk id="3" creationId="{7A6CBE59-A6B6-E6ED-5EFF-8EDC45549B4F}"/>
          </ac:picMkLst>
        </pc:picChg>
        <pc:picChg chg="add del mod">
          <ac:chgData name="Alexander Rivera" userId="4ed3d0107b9a588e" providerId="LiveId" clId="{1014A97C-CE41-4297-AD16-74D25054BF1C}" dt="2026-08-31T20:45:45.337" v="31" actId="931"/>
          <ac:picMkLst>
            <pc:docMk/>
            <pc:sldMk cId="0" sldId="263"/>
            <ac:picMk id="8" creationId="{03AB41E9-2229-F4C3-E9F1-DBCAE3264828}"/>
          </ac:picMkLst>
        </pc:picChg>
        <pc:picChg chg="add mod">
          <ac:chgData name="Alexander Rivera" userId="4ed3d0107b9a588e" providerId="LiveId" clId="{1014A97C-CE41-4297-AD16-74D25054BF1C}" dt="2026-08-31T20:46:03.939" v="39" actId="14100"/>
          <ac:picMkLst>
            <pc:docMk/>
            <pc:sldMk cId="0" sldId="263"/>
            <ac:picMk id="10" creationId="{0F70738E-9611-68D5-8BB1-3DA9BA39A67A}"/>
          </ac:picMkLst>
        </pc:picChg>
        <pc:picChg chg="add del mod">
          <ac:chgData name="Alexander Rivera" userId="4ed3d0107b9a588e" providerId="LiveId" clId="{1014A97C-CE41-4297-AD16-74D25054BF1C}" dt="2026-08-31T20:45:24.058" v="26" actId="478"/>
          <ac:picMkLst>
            <pc:docMk/>
            <pc:sldMk cId="0" sldId="263"/>
            <ac:picMk id="15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550590" y="-1992680"/>
            <a:ext cx="5486400" cy="54864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21488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PROYECTO DE TÍTULO · INGENIERÍA EN INFORMÁTICA · DUOC UC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77240" y="246888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TaskNode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3611880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Sistema de gestión operativa en terreno para industria pesquera, naviera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 de contratistas del sur de Chile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822960" y="4709160"/>
            <a:ext cx="2926080" cy="0"/>
          </a:xfrm>
          <a:prstGeom prst="straightConnector1">
            <a:avLst/>
          </a:prstGeom>
          <a:noFill/>
          <a:ln w="254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1"/>
          <p:cNvSpPr txBox="1"/>
          <p:nvPr/>
        </p:nvSpPr>
        <p:spPr>
          <a:xfrm>
            <a:off x="822960" y="489204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6D9"/>
                </a:solidFill>
                <a:latin typeface="Calibri"/>
                <a:ea typeface="Calibri"/>
                <a:cs typeface="Calibri"/>
                <a:sym typeface="Calibri"/>
              </a:rPr>
              <a:t>Digitalizar y centralizar el registro de actividades en terreno para eliminar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6D9"/>
                </a:solidFill>
                <a:latin typeface="Calibri"/>
                <a:ea typeface="Calibri"/>
                <a:cs typeface="Calibri"/>
                <a:sym typeface="Calibri"/>
              </a:rPr>
              <a:t>pérdida de trazabilidad, descoordinación y retraso en la toma de decisiones.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" title="b9690f8d5b9d91f8c4bd01f0c3e8752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150" y="322775"/>
            <a:ext cx="2775626" cy="6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CONTEXTO DE NEGOCIO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El problema en terreno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548640" y="1600200"/>
            <a:ext cx="6035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Empresas industriales del sur de Chile </a:t>
            </a:r>
            <a:r>
              <a:rPr lang="en-US" sz="16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(salmoneras, navieras, contratistas)</a:t>
            </a:r>
            <a:r>
              <a:rPr lang="en-US" sz="16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coordinan operarios en terreno con planillas, llamadas y mensajería informal.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306324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777240" y="3154680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Pérdida de trazabilidad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777240" y="347472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No hay registro confiable de dónde y cuándo se ejecutó cada tarea.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4142232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777240" y="4233672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Descoordinación y retrasos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777240" y="4553712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La información llega tarde a quien debe tomar decisiones.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5221224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777240" y="5312664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Datos dispersos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777240" y="5632704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Sin datos centralizados no hay análisis de negocio posible.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903720" y="1600200"/>
            <a:ext cx="4754880" cy="4434840"/>
          </a:xfrm>
          <a:prstGeom prst="roundRect">
            <a:avLst>
              <a:gd name="adj" fmla="val 2062"/>
            </a:avLst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7223760" y="1874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TASKNODE RESUELVE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7223760" y="2240280"/>
            <a:ext cx="4160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Digitaliza, centraliza y ordena el flujo de información de operarios en terreno, dejando cada cambio de estado auditado con usuario, fecha y ubicación.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7223760" y="3794760"/>
            <a:ext cx="4114800" cy="0"/>
          </a:xfrm>
          <a:prstGeom prst="straightConnector1">
            <a:avLst/>
          </a:prstGeom>
          <a:noFill/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2"/>
          <p:cNvSpPr txBox="1"/>
          <p:nvPr/>
        </p:nvSpPr>
        <p:spPr>
          <a:xfrm>
            <a:off x="7223760" y="4023360"/>
            <a:ext cx="4160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Enfoque 100% aplicado al mundo real: sin integraciones a ERP legacy ni IA especulativa. El foco es la continuidad operativa.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PERFIL PROFESIONAL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Relación con el perfil de egreso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1417320" y="189280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Arquitectura de software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777240" y="246888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Diseño de una base de datos relacional normalizada y una API RESTful segura, aplicando principios de arquitectura multi-tenant.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17220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 txBox="1"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7040880" y="189280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Desarrollo full-stack aplicado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6400800" y="246888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Backend asíncrono en FastAPI y frontend PWA mobile-first, con foco en usabilidad real para trabajadores de terreno.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37947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1417320" y="399592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Gestión de proyectos TI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777240" y="457200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Planificación y ejecución bajo metodología ágil e iterativo, con trazabilidad de evidencias y responsabilidades (RACI).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172200" y="37947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7040880" y="399592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Ingeniería aplicada a la industria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6400800" y="457200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Solución pensada para un dolor real de la industria del sur de Chile (pesca, naviera, contratistas), no un ejercicio académico aislado.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Objetivo general y específicos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48640" y="164592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822960" y="17556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822960" y="199339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 MVP de software SaaS para gestión operativa que permita digitalizar y centralizar el registro de actividades en terreno para empresas industriales.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48640" y="28803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 txBox="1"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731520" y="379476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Diseñar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731520" y="4160520"/>
            <a:ext cx="23317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una arquitectura relacional PostgreSQL optimizada.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474720" y="28803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 txBox="1"/>
          <p:nvPr/>
        </p:nvSpPr>
        <p:spPr>
          <a:xfrm>
            <a:off x="365760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3657600" y="379476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Construir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3657600" y="4160520"/>
            <a:ext cx="23317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una API RESTful segura en FastAPI.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400800" y="28803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 txBox="1"/>
          <p:nvPr/>
        </p:nvSpPr>
        <p:spPr>
          <a:xfrm>
            <a:off x="658368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6583680" y="379476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Prototipar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6583680" y="4160520"/>
            <a:ext cx="23317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una UI/UX Mobile-First minimizando la curva de aprendizaje.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9326880" y="28803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950976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9509760" y="379476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Gestionar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9509760" y="4160520"/>
            <a:ext cx="23317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el desarrollo íntegramente bajo metodología Scrum.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FACTIBILIDAD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Alcance del MVP en un semestre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El alcance se acotó deliberadamente a lo ejecutable en 17 semanas por un equipo reducido, dejando fuera integraciones que no aportan al problema central.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8640" y="228600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E3F2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822960" y="2468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DENTRO DEL ALCANCE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822960" y="283464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4A36"/>
              </a:buClr>
              <a:buSzPts val="1350"/>
              <a:buFont typeface="Calibri"/>
              <a:buChar char="✓"/>
            </a:pPr>
            <a:r>
              <a:rPr lang="en-US" sz="1350" b="0" i="0" u="none" strike="noStrike" cap="none">
                <a:solidFill>
                  <a:srgbClr val="1F4A36"/>
                </a:solidFill>
                <a:latin typeface="Calibri"/>
                <a:ea typeface="Calibri"/>
                <a:cs typeface="Calibri"/>
                <a:sym typeface="Calibri"/>
              </a:rPr>
              <a:t>Autenticación y roles (Supervisor / Operario)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F4A36"/>
              </a:buClr>
              <a:buSzPts val="1350"/>
              <a:buFont typeface="Calibri"/>
              <a:buChar char="✓"/>
            </a:pPr>
            <a:r>
              <a:rPr lang="en-US" sz="1350" b="0" i="0" u="none" strike="noStrike" cap="none">
                <a:solidFill>
                  <a:srgbClr val="1F4A36"/>
                </a:solidFill>
                <a:latin typeface="Calibri"/>
                <a:ea typeface="Calibri"/>
                <a:cs typeface="Calibri"/>
                <a:sym typeface="Calibri"/>
              </a:rPr>
              <a:t>Asignación y seguimiento de tareas en tiempo real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F4A36"/>
              </a:buClr>
              <a:buSzPts val="1350"/>
              <a:buFont typeface="Calibri"/>
              <a:buChar char="✓"/>
            </a:pPr>
            <a:r>
              <a:rPr lang="en-US" sz="1350" b="0" i="0" u="none" strike="noStrike" cap="none">
                <a:solidFill>
                  <a:srgbClr val="1F4A36"/>
                </a:solidFill>
                <a:latin typeface="Calibri"/>
                <a:ea typeface="Calibri"/>
                <a:cs typeface="Calibri"/>
                <a:sym typeface="Calibri"/>
              </a:rPr>
              <a:t>Captura de evidencia fotográfica y GPS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F4A36"/>
              </a:buClr>
              <a:buSzPts val="1350"/>
              <a:buFont typeface="Calibri"/>
              <a:buChar char="✓"/>
            </a:pPr>
            <a:r>
              <a:rPr lang="en-US" sz="1350" b="0" i="0" u="none" strike="noStrike" cap="none">
                <a:solidFill>
                  <a:srgbClr val="1F4A36"/>
                </a:solidFill>
                <a:latin typeface="Calibri"/>
                <a:ea typeface="Calibri"/>
                <a:cs typeface="Calibri"/>
                <a:sym typeface="Calibri"/>
              </a:rPr>
              <a:t>Dashboard operativo centralizado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F4A36"/>
              </a:buClr>
              <a:buSzPts val="1350"/>
              <a:buFont typeface="Calibri"/>
              <a:buChar char="✓"/>
            </a:pPr>
            <a:r>
              <a:rPr lang="en-US" sz="1350" b="0" i="0" u="none" strike="noStrike" cap="none">
                <a:solidFill>
                  <a:srgbClr val="1F4A36"/>
                </a:solidFill>
                <a:latin typeface="Calibri"/>
                <a:ea typeface="Calibri"/>
                <a:cs typeface="Calibri"/>
                <a:sym typeface="Calibri"/>
              </a:rPr>
              <a:t>PWA offline-first con sincronización posterior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217920" y="228600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6492240" y="2468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FUERA DE ALCANCE (MVP)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6492240" y="283464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Char char="✗"/>
            </a:pPr>
            <a:r>
              <a:rPr lang="en-US" sz="13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Integraciones con ERPs legacy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Char char="✗"/>
            </a:pPr>
            <a:r>
              <a:rPr lang="en-US" sz="13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Inteligencia artificial especulativa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Char char="✗"/>
            </a:pPr>
            <a:r>
              <a:rPr lang="en-US" sz="13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Módulos de facturación o nómina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Char char="✗"/>
            </a:pPr>
            <a:r>
              <a:rPr lang="en-US" sz="13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Aplicación nativa (se prioriza PWA)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Requisitos funcionales (RF)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6"/>
          <p:cNvGraphicFramePr/>
          <p:nvPr/>
        </p:nvGraphicFramePr>
        <p:xfrm>
          <a:off x="548640" y="1691640"/>
          <a:ext cx="11109950" cy="4389200"/>
        </p:xfrm>
        <a:graphic>
          <a:graphicData uri="http://schemas.openxmlformats.org/drawingml/2006/table">
            <a:tbl>
              <a:tblPr>
                <a:noFill/>
                <a:tableStyleId>{39612F84-F28E-4061-A224-8A1214BDF9A9}</a:tableStyleId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Requisito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Prioridad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RF-01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Autenticación y roles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 diferenciando Supervisor (web) y Operario (móvil).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2D2D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A3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RF-02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Asignación de tareas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supervisor crea, asigna y ubica una orden de trabajo.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2D2D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A3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RF-03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 estados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operario actualiza el estado de su tarea en tiempo real.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2D2D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A3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RF-04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de evidencia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Nota/comentario de finalización al cerrar una tarea.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54F0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854F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RF-05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 operativo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 centralizada del estado de todas las tareas del día.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2D2D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A3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Evidencia fotográfica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Adjuntar fotos desde la cámara al cambiar de estado.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2D2D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A3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RF-07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Geolocalización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Captura de coordenadas GPS al cambiar de estado.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54F0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854F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2" name="Google Shape;132;p6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Requisitos no funcionales (RNF)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7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{39612F84-F28E-4061-A224-8A1214BDF9A9}</a:tableStyleId>
              </a:tblPr>
              <a:tblGrid>
                <a:gridCol w="118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Requisito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RNF-01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Arquitectura y stack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en Python/FastAPI con rendimiento asíncrono.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RNF-02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Integridad relacional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 con cumplimiento estricto de propiedades ACID.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RNF-03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Usabilidad en terreno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Interfaz Mobile-First, accesible en pantallas táctiles.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RNF-04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Rendimiento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Latencia de API inferior a 2 segundos.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RNF-05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Tolerancia offline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PWA con almacenamiento local y sincronización automática.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Seguridad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Comunicación protegida vía tokens JWT.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RNF-07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Almacenamiento multimedia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Evidencia fotográfica en almacenamiento de objetos (S3/Blob), solo la URL en PostgreSQL.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2" name="Google Shape;142;p7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548640" y="457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 dirty="0" err="1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Esquema</a:t>
            </a:r>
            <a:r>
              <a:rPr lang="en-US" sz="3000" b="1" i="0" u="none" strike="noStrike" cap="none" dirty="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000" b="1" i="0" u="none" strike="noStrike" cap="none" dirty="0" err="1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relacional</a:t>
            </a:r>
            <a:r>
              <a:rPr lang="en-US" sz="3000" b="1" i="0" u="none" strike="noStrike" cap="none" dirty="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000" b="1" i="0" u="none" strike="noStrike" cap="none" dirty="0" err="1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preliminar</a:t>
            </a:r>
            <a:r>
              <a:rPr lang="en-US" sz="3000" b="1" i="0" u="none" strike="noStrike" cap="none" dirty="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 (3FN)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0F70738E-9611-68D5-8BB1-3DA9BA39A6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1586" y="982528"/>
            <a:ext cx="7551175" cy="56483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Metodología ágil </a:t>
            </a: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adaptad</a:t>
            </a: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 a equipo reducido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Cuatro semanas de formulación seguidas de seis sprints de dos semanas, cada uno con un incremento funcional verificable por el profesor-guía.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48640" y="2194560"/>
            <a:ext cx="2112264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548640" y="2194560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1-4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2798064" y="2194560"/>
            <a:ext cx="2112264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2798064" y="2194560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1-2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5-8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047488" y="2194560"/>
            <a:ext cx="2112264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5047488" y="2194560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3-4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9-12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7296912" y="2194560"/>
            <a:ext cx="2112264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7296912" y="2194560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5-6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13-16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9546336" y="2194560"/>
            <a:ext cx="2112264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9546336" y="2194560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17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HERRAMIENTAS DE TRABAJO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48640" y="3611880"/>
            <a:ext cx="358140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685800" y="3685032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Gestión ágil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685800" y="3941064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GitHub Projects (Kanban)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312920" y="3611880"/>
            <a:ext cx="358140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4450080" y="3685032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Versionamiento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4450080" y="3941064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Git + GitHub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077200" y="3611880"/>
            <a:ext cx="358140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8214360" y="3685032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8214360" y="3941064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48640" y="4462272"/>
            <a:ext cx="358140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685800" y="4535424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Diseño UI/UX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685800" y="4791456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Figma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312920" y="4462272"/>
            <a:ext cx="358140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4450080" y="4535424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4450080" y="4791456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FastAPI + Pydantic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8077200" y="4462272"/>
            <a:ext cx="358140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8214360" y="4535424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8214360" y="4791456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PostgreSQL + SQLAlchemy + Alembic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48640" y="5312664"/>
            <a:ext cx="358140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685800" y="5385816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685800" y="5641848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PWA · Service Workers · IndexedDB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312920" y="5312664"/>
            <a:ext cx="358140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4450080" y="5385816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4450080" y="5641848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Pytest + Postman/Insomnia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8077200" y="5312664"/>
            <a:ext cx="358140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8214360" y="5385816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8214360" y="5641848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Docker + PaaS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Cronograma — el desarrollo inicia en la semana 5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48640" y="2286000"/>
            <a:ext cx="2577532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"/>
          <p:cNvSpPr txBox="1"/>
          <p:nvPr/>
        </p:nvSpPr>
        <p:spPr>
          <a:xfrm>
            <a:off x="548640" y="2286000"/>
            <a:ext cx="257753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162748" y="2286000"/>
            <a:ext cx="192400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3162748" y="2286000"/>
            <a:ext cx="192400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Fundaciones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5123329" y="2286000"/>
            <a:ext cx="257753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 txBox="1"/>
          <p:nvPr/>
        </p:nvSpPr>
        <p:spPr>
          <a:xfrm>
            <a:off x="5123329" y="2286000"/>
            <a:ext cx="257753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Desarrollo Core PWA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7737438" y="2286000"/>
            <a:ext cx="3884586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 txBox="1"/>
          <p:nvPr/>
        </p:nvSpPr>
        <p:spPr>
          <a:xfrm>
            <a:off x="7737438" y="2286000"/>
            <a:ext cx="3884586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Seguridad, QA y despliegue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548640" y="3364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Semana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10287000" y="3364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Semana 17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0"/>
          <p:cNvCxnSpPr/>
          <p:nvPr/>
        </p:nvCxnSpPr>
        <p:spPr>
          <a:xfrm>
            <a:off x="3162748" y="2148840"/>
            <a:ext cx="0" cy="128016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20" name="Google Shape;220;p10"/>
          <p:cNvSpPr txBox="1"/>
          <p:nvPr/>
        </p:nvSpPr>
        <p:spPr>
          <a:xfrm>
            <a:off x="2339788" y="16002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Inicio del desarrollo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(Semana 5)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548640" y="3794760"/>
            <a:ext cx="11109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Fase 0 (Sem 1-4)  </a:t>
            </a:r>
            <a:r>
              <a:rPr lang="en-US" sz="13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Requisitos, metodología, RACI, mockups y defensa de la propuesta.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548640" y="4251960"/>
            <a:ext cx="11109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Fase 1 (Sem 5-7)  </a:t>
            </a:r>
            <a:r>
              <a:rPr lang="en-US" sz="13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Entorno, CI/CD, modelo E-R, setup PostgreSQL/ORM, maquetación UI.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548640" y="4709160"/>
            <a:ext cx="11109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Fase 2 (Sem 8-11)  </a:t>
            </a:r>
            <a:r>
              <a:rPr lang="en-US" sz="13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API REST, frontend PWA, Service Workers, GPS y captura fotográfica.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548640" y="5166360"/>
            <a:ext cx="11109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Fase 3 (Sem 12-17)  </a:t>
            </a:r>
            <a:r>
              <a:rPr lang="en-US" sz="13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JWT, RLS, dashboard web, almacenamiento de evidencia, QA y despliegue.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GOBERNANZA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Matriz RACI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4" name="Google Shape;234;p11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{39612F84-F28E-4061-A224-8A1214BDF9A9}</a:tableStyleId>
              </a:tblPr>
              <a:tblGrid>
                <a:gridCol w="507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 / Entregable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Líder Técnico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Dev. Frontend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Supervisor (Profesor)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de metodología y plan de trabajo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50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850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3380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6338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Modelamiento de base de datos (PostgreSQL)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/ 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50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850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Mockups y diseño de interfaces (Figma)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50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850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/ 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backend y API (FastAPI)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50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850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Programación frontend y geolocalización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50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850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Implementación offline-first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de calidad (QA) y despliegue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3380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6338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final y documentación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33806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6338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5" name="Google Shape;235;p11"/>
          <p:cNvSpPr txBox="1"/>
          <p:nvPr/>
        </p:nvSpPr>
        <p:spPr>
          <a:xfrm>
            <a:off x="548640" y="60807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R = Responsable   A = Aprueba   C = Consultado   I = Informado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VERIFICACIÓN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Determinación de evidencias y justificación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12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{39612F84-F28E-4061-A224-8A1214BDF9A9}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Etapa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Evidencia verificable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Documento de requisitos, matriz RACI, archivo Figma, registro de la presentación.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1-2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Historial de commits, pipeline de CI/CD en verde, diagrama E-R, migraciones.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3-4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Colección de pruebas de endpoints, demo de la PWA funcionando offline.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5-6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de roles y RLS, capturas del dashboard, reporte de pruebas de carga.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Cierre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 desplegado en URL pública, informe de título, video demo end-to-end.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3E6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" name="Google Shape;246;p12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868680" y="489204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mbria"/>
              <a:buNone/>
            </a:pPr>
            <a:r>
              <a:rPr lang="en-US" sz="1500" b="0" i="1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“No elegimos evidencias arbitrarias: cada una es un subproducto que el propio proceso genera. Así como TaskNode audita cada cambio de estado en terreno, nosotros auditamos cada sprint con evidencia verificable y fechada.”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DISEÑO DE INTERFAZ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Mockups — cliente móvil (Operario)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3" descr="mockup_app_lista_tareas.png"/>
          <p:cNvPicPr preferRelativeResize="0"/>
          <p:nvPr/>
        </p:nvPicPr>
        <p:blipFill rotWithShape="1">
          <a:blip r:embed="rId3">
            <a:alphaModFix/>
          </a:blip>
          <a:srcRect l="-18627" r="-18627"/>
          <a:stretch/>
        </p:blipFill>
        <p:spPr>
          <a:xfrm>
            <a:off x="1828800" y="1554480"/>
            <a:ext cx="3291840" cy="466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3" descr="mockup_app_detalle_tarea.png"/>
          <p:cNvPicPr preferRelativeResize="0"/>
          <p:nvPr/>
        </p:nvPicPr>
        <p:blipFill rotWithShape="1">
          <a:blip r:embed="rId4">
            <a:alphaModFix/>
          </a:blip>
          <a:srcRect l="-18627" r="-18627"/>
          <a:stretch/>
        </p:blipFill>
        <p:spPr>
          <a:xfrm>
            <a:off x="6309360" y="1554480"/>
            <a:ext cx="329184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 txBox="1"/>
          <p:nvPr/>
        </p:nvSpPr>
        <p:spPr>
          <a:xfrm>
            <a:off x="1828800" y="62636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Lista de tareas del día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6309360" y="62636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Detalle: estado, evidencia y GPS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DISEÑO DE INTERFAZ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Mockup — dashboard web (Supervisor)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14" descr="mockup_dashboard_supervisor.png"/>
          <p:cNvPicPr preferRelativeResize="0"/>
          <p:nvPr/>
        </p:nvPicPr>
        <p:blipFill rotWithShape="1">
          <a:blip r:embed="rId3">
            <a:alphaModFix/>
          </a:blip>
          <a:srcRect l="-30785" r="-30785"/>
          <a:stretch/>
        </p:blipFill>
        <p:spPr>
          <a:xfrm>
            <a:off x="548640" y="1737360"/>
            <a:ext cx="11109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"/>
          <p:cNvSpPr txBox="1"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868680" y="3429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Preguntas y comentarios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5"/>
          <p:cNvCxnSpPr/>
          <p:nvPr/>
        </p:nvCxnSpPr>
        <p:spPr>
          <a:xfrm>
            <a:off x="868680" y="4023360"/>
            <a:ext cx="2926080" cy="0"/>
          </a:xfrm>
          <a:prstGeom prst="straightConnector1">
            <a:avLst/>
          </a:prstGeom>
          <a:noFill/>
          <a:ln w="254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2" name="Google Shape;282;p15"/>
          <p:cNvSpPr txBox="1"/>
          <p:nvPr/>
        </p:nvSpPr>
        <p:spPr>
          <a:xfrm>
            <a:off x="868680" y="42062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FB6D9"/>
                </a:solidFill>
                <a:latin typeface="Calibri"/>
                <a:ea typeface="Calibri"/>
                <a:cs typeface="Calibri"/>
                <a:sym typeface="Calibri"/>
              </a:rPr>
              <a:t>TaskNode — Sistema de gestión operativa en terreno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FB6D9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· Duoc UC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1377</Words>
  <Application>Microsoft Office PowerPoint</Application>
  <PresentationFormat>Panorámica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Alexander Rivera</cp:lastModifiedBy>
  <cp:revision>1</cp:revision>
  <dcterms:created xsi:type="dcterms:W3CDTF">2026-08-31T03:09:54Z</dcterms:created>
  <dcterms:modified xsi:type="dcterms:W3CDTF">2026-08-31T20:46:13Z</dcterms:modified>
</cp:coreProperties>
</file>